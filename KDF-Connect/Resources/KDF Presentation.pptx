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2CD"/>
          </a:solidFill>
        </a:fill>
      </a:tcStyle>
    </a:wholeTbl>
    <a:band2H>
      <a:tcTxStyle/>
      <a:tcStyle>
        <a:tcBdr/>
        <a:fill>
          <a:solidFill>
            <a:srgbClr val="FF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4" d="100"/>
          <a:sy n="134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o Hernandez" userId="183a8336-f067-4a1d-bbab-4beacba12553" providerId="ADAL" clId="{59E8DB55-425E-4815-B529-1B252DF7ACB4}"/>
    <pc:docChg chg="modSld">
      <pc:chgData name="Alvaro Hernandez" userId="183a8336-f067-4a1d-bbab-4beacba12553" providerId="ADAL" clId="{59E8DB55-425E-4815-B529-1B252DF7ACB4}" dt="2021-02-09T22:32:53.717" v="28" actId="20577"/>
      <pc:docMkLst>
        <pc:docMk/>
      </pc:docMkLst>
      <pc:sldChg chg="modSp mod">
        <pc:chgData name="Alvaro Hernandez" userId="183a8336-f067-4a1d-bbab-4beacba12553" providerId="ADAL" clId="{59E8DB55-425E-4815-B529-1B252DF7ACB4}" dt="2021-02-09T22:19:27.567" v="13" actId="20577"/>
        <pc:sldMkLst>
          <pc:docMk/>
          <pc:sldMk cId="0" sldId="263"/>
        </pc:sldMkLst>
        <pc:graphicFrameChg chg="modGraphic">
          <ac:chgData name="Alvaro Hernandez" userId="183a8336-f067-4a1d-bbab-4beacba12553" providerId="ADAL" clId="{59E8DB55-425E-4815-B529-1B252DF7ACB4}" dt="2021-02-09T22:19:27.567" v="13" actId="20577"/>
          <ac:graphicFrameMkLst>
            <pc:docMk/>
            <pc:sldMk cId="0" sldId="263"/>
            <ac:graphicFrameMk id="180" creationId="{00000000-0000-0000-0000-000000000000}"/>
          </ac:graphicFrameMkLst>
        </pc:graphicFrameChg>
      </pc:sldChg>
      <pc:sldChg chg="modSp mod">
        <pc:chgData name="Alvaro Hernandez" userId="183a8336-f067-4a1d-bbab-4beacba12553" providerId="ADAL" clId="{59E8DB55-425E-4815-B529-1B252DF7ACB4}" dt="2021-02-09T22:32:53.717" v="28" actId="20577"/>
        <pc:sldMkLst>
          <pc:docMk/>
          <pc:sldMk cId="0" sldId="264"/>
        </pc:sldMkLst>
        <pc:spChg chg="mod">
          <ac:chgData name="Alvaro Hernandez" userId="183a8336-f067-4a1d-bbab-4beacba12553" providerId="ADAL" clId="{59E8DB55-425E-4815-B529-1B252DF7ACB4}" dt="2021-02-09T22:32:53.717" v="28" actId="20577"/>
          <ac:spMkLst>
            <pc:docMk/>
            <pc:sldMk cId="0" sldId="264"/>
            <ac:spMk id="18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>
            <a:spLocks noGrp="1"/>
          </p:cNvSpPr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  <a:endParaRPr/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>
            <a:spLocks noGrp="1"/>
          </p:cNvSpPr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>
            <a:spLocks noGrp="1"/>
          </p:cNvSpPr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sp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54;p13"/>
          <p:cNvSpPr txBox="1">
            <a:spLocks noGrp="1"/>
          </p:cNvSpPr>
          <p:nvPr>
            <p:ph type="ctrTitle"/>
          </p:nvPr>
        </p:nvSpPr>
        <p:spPr>
          <a:xfrm>
            <a:off x="3750759" y="690521"/>
            <a:ext cx="4897801" cy="1489685"/>
          </a:xfrm>
          <a:prstGeom prst="rect">
            <a:avLst/>
          </a:prstGeom>
        </p:spPr>
        <p:txBody>
          <a:bodyPr/>
          <a:lstStyle>
            <a:lvl1pPr algn="r">
              <a:defRPr sz="7300">
                <a:solidFill>
                  <a:srgbClr val="FFFFFF"/>
                </a:solidFill>
                <a:latin typeface="Comfortaa Bold"/>
                <a:ea typeface="Comfortaa Bold"/>
                <a:cs typeface="Comfortaa Bold"/>
                <a:sym typeface="Comfortaa Bold"/>
              </a:defRPr>
            </a:lvl1pPr>
          </a:lstStyle>
          <a:p>
            <a:r>
              <a:t>KDF</a:t>
            </a:r>
          </a:p>
        </p:txBody>
      </p:sp>
      <p:pic>
        <p:nvPicPr>
          <p:cNvPr id="110" name="Google Shape;56;p13" descr="Google Shape;56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449" y="4197775"/>
            <a:ext cx="1286551" cy="48590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61;p14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14" name="Google Shape;62;p14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4500302" cy="831724"/>
          </a:xfrm>
          <a:prstGeom prst="rect">
            <a:avLst/>
          </a:prstGeom>
        </p:spPr>
        <p:txBody>
          <a:bodyPr/>
          <a:lstStyle>
            <a:lvl1pPr defTabSz="406908">
              <a:defRPr sz="4183">
                <a:solidFill>
                  <a:srgbClr val="3C26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dirty="0">
                <a:latin typeface="Comfortaa" pitchFamily="2" charset="0"/>
              </a:rPr>
              <a:t>Methodology</a:t>
            </a:r>
          </a:p>
        </p:txBody>
      </p:sp>
      <p:sp>
        <p:nvSpPr>
          <p:cNvPr id="115" name="Google Shape;63;p14"/>
          <p:cNvSpPr txBox="1">
            <a:spLocks noGrp="1"/>
          </p:cNvSpPr>
          <p:nvPr>
            <p:ph type="body" sz="half" idx="1"/>
          </p:nvPr>
        </p:nvSpPr>
        <p:spPr>
          <a:xfrm>
            <a:off x="311699" y="1428225"/>
            <a:ext cx="4703402" cy="3140700"/>
          </a:xfrm>
          <a:prstGeom prst="rect">
            <a:avLst/>
          </a:prstGeom>
        </p:spPr>
        <p:txBody>
          <a:bodyPr/>
          <a:lstStyle/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s-CR" dirty="0">
                <a:latin typeface="Comfortaa" pitchFamily="2" charset="0"/>
              </a:rPr>
              <a:t>SMART:</a:t>
            </a:r>
          </a:p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endParaRPr lang="es-CR" dirty="0">
              <a:latin typeface="Comfortaa" pitchFamily="2" charset="0"/>
            </a:endParaRPr>
          </a:p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n-US" b="1" i="0" dirty="0">
                <a:solidFill>
                  <a:srgbClr val="666666"/>
                </a:solidFill>
                <a:effectLst/>
                <a:latin typeface="Comfortaa" pitchFamily="2" charset="0"/>
              </a:rPr>
              <a:t>Specific</a:t>
            </a:r>
            <a:endParaRPr lang="es-CR" b="1" i="0" dirty="0">
              <a:solidFill>
                <a:srgbClr val="666666"/>
              </a:solidFill>
              <a:effectLst/>
              <a:latin typeface="Comfortaa" pitchFamily="2" charset="0"/>
            </a:endParaRPr>
          </a:p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n-US" b="1" i="0" dirty="0">
                <a:solidFill>
                  <a:srgbClr val="666666"/>
                </a:solidFill>
                <a:effectLst/>
                <a:latin typeface="Comfortaa" pitchFamily="2" charset="0"/>
              </a:rPr>
              <a:t>Measurable</a:t>
            </a:r>
          </a:p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n-US" b="1" i="0" dirty="0">
                <a:solidFill>
                  <a:srgbClr val="666666"/>
                </a:solidFill>
                <a:effectLst/>
                <a:latin typeface="Comfortaa" pitchFamily="2" charset="0"/>
              </a:rPr>
              <a:t>Attainable</a:t>
            </a:r>
            <a:endParaRPr lang="en-US" b="1" dirty="0">
              <a:solidFill>
                <a:srgbClr val="666666"/>
              </a:solidFill>
              <a:latin typeface="Comfortaa" pitchFamily="2" charset="0"/>
            </a:endParaRPr>
          </a:p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n-US" b="1" i="0" dirty="0">
                <a:solidFill>
                  <a:srgbClr val="666666"/>
                </a:solidFill>
                <a:effectLst/>
                <a:latin typeface="Comfortaa" pitchFamily="2" charset="0"/>
              </a:rPr>
              <a:t>Relevant</a:t>
            </a:r>
          </a:p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n-US" b="1" i="0" dirty="0">
                <a:solidFill>
                  <a:srgbClr val="666666"/>
                </a:solidFill>
                <a:effectLst/>
                <a:latin typeface="Comfortaa" pitchFamily="2" charset="0"/>
              </a:rPr>
              <a:t>Timely</a:t>
            </a:r>
            <a:endParaRPr dirty="0">
              <a:latin typeface="Comfortaa" pitchFamily="2" charset="0"/>
            </a:endParaRPr>
          </a:p>
        </p:txBody>
      </p:sp>
      <p:sp>
        <p:nvSpPr>
          <p:cNvPr id="116" name="Google Shape;64;p14"/>
          <p:cNvSpPr/>
          <p:nvPr/>
        </p:nvSpPr>
        <p:spPr>
          <a:xfrm>
            <a:off x="5496374" y="0"/>
            <a:ext cx="3647701" cy="51435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117" name="Google Shape;65;p14" descr="Google Shape;65;p14"/>
          <p:cNvPicPr>
            <a:picLocks noChangeAspect="1"/>
          </p:cNvPicPr>
          <p:nvPr/>
        </p:nvPicPr>
        <p:blipFill>
          <a:blip r:embed="rId2"/>
          <a:srcRect r="18699" b="30938"/>
          <a:stretch>
            <a:fillRect/>
          </a:stretch>
        </p:blipFill>
        <p:spPr>
          <a:xfrm>
            <a:off x="7065974" y="3304249"/>
            <a:ext cx="2078027" cy="1839251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0;p15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1" name="Google Shape;71;p15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4500302" cy="723718"/>
          </a:xfrm>
          <a:prstGeom prst="rect">
            <a:avLst/>
          </a:prstGeom>
        </p:spPr>
        <p:txBody>
          <a:bodyPr/>
          <a:lstStyle>
            <a:lvl1pPr defTabSz="342900">
              <a:defRPr sz="3525">
                <a:solidFill>
                  <a:srgbClr val="3C26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dirty="0">
                <a:latin typeface="Comfortaa" pitchFamily="2" charset="0"/>
              </a:rPr>
              <a:t>Resources</a:t>
            </a:r>
          </a:p>
        </p:txBody>
      </p:sp>
      <p:sp>
        <p:nvSpPr>
          <p:cNvPr id="122" name="Google Shape;72;p15"/>
          <p:cNvSpPr txBox="1">
            <a:spLocks noGrp="1"/>
          </p:cNvSpPr>
          <p:nvPr>
            <p:ph type="body" sz="quarter" idx="1"/>
          </p:nvPr>
        </p:nvSpPr>
        <p:spPr>
          <a:xfrm>
            <a:off x="326621" y="2025069"/>
            <a:ext cx="4703401" cy="1839119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t>1 PM</a:t>
            </a:r>
          </a:p>
          <a:p>
            <a:pPr marL="0" indent="0">
              <a:spcBef>
                <a:spcPts val="1600"/>
              </a:spcBef>
              <a:buSzTx/>
              <a:buNone/>
              <a:defRPr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t>2 Developers</a:t>
            </a:r>
          </a:p>
          <a:p>
            <a:pPr marL="0" indent="0">
              <a:spcBef>
                <a:spcPts val="1600"/>
              </a:spcBef>
              <a:buSzTx/>
              <a:buNone/>
              <a:defRPr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t>2 QA</a:t>
            </a:r>
          </a:p>
        </p:txBody>
      </p:sp>
      <p:sp>
        <p:nvSpPr>
          <p:cNvPr id="123" name="Google Shape;73;p15"/>
          <p:cNvSpPr/>
          <p:nvPr/>
        </p:nvSpPr>
        <p:spPr>
          <a:xfrm>
            <a:off x="5496374" y="0"/>
            <a:ext cx="3647701" cy="51435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124" name="Google Shape;74;p15" descr="Google Shape;74;p15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065974" y="3304249"/>
            <a:ext cx="2078027" cy="183925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70;p15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8" name="Google Shape;71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31520">
              <a:defRPr sz="3760">
                <a:solidFill>
                  <a:srgbClr val="3C2684"/>
                </a:solidFill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lvl1pPr>
          </a:lstStyle>
          <a:p>
            <a:r>
              <a:rPr dirty="0"/>
              <a:t>Phases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129" name="Google Shape;73;p15"/>
          <p:cNvSpPr/>
          <p:nvPr/>
        </p:nvSpPr>
        <p:spPr>
          <a:xfrm>
            <a:off x="6208799" y="0"/>
            <a:ext cx="2935276" cy="51435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130" name="Google Shape;74;p15" descr="Google Shape;74;p15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065974" y="3304249"/>
            <a:ext cx="2078027" cy="18392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70;p15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34" name="Google Shape;72;p15"/>
          <p:cNvSpPr txBox="1">
            <a:spLocks noGrp="1"/>
          </p:cNvSpPr>
          <p:nvPr>
            <p:ph type="body" sz="quarter" idx="1"/>
          </p:nvPr>
        </p:nvSpPr>
        <p:spPr>
          <a:xfrm>
            <a:off x="1682526" y="1037806"/>
            <a:ext cx="1868384" cy="3250997"/>
          </a:xfrm>
          <a:prstGeom prst="rect">
            <a:avLst/>
          </a:prstGeom>
        </p:spPr>
        <p:txBody>
          <a:bodyPr/>
          <a:lstStyle/>
          <a:p>
            <a:pPr marL="0" indent="0" defTabSz="274320">
              <a:lnSpc>
                <a:spcPts val="1300"/>
              </a:lnSpc>
              <a:buClrTx/>
              <a:buSzTx/>
              <a:buFontTx/>
              <a:buNone/>
              <a:defRPr sz="1200" spc="-24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Based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3 Week </a:t>
            </a:r>
            <a:endParaRPr spc="-99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Initial Setup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Set Dev Env</a:t>
            </a:r>
          </a:p>
          <a:p>
            <a:pPr marL="0" indent="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 spc="-2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endParaRPr/>
          </a:p>
          <a:p>
            <a:pPr marL="0" indent="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 spc="-2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Security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3 Week 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Login 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Reset Password 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Forgot Password</a:t>
            </a:r>
          </a:p>
          <a:p>
            <a:pPr marL="0" indent="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 spc="-2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endParaRPr/>
          </a:p>
          <a:p>
            <a:pPr marL="0" indent="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 spc="-2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Settings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1 Week 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General</a:t>
            </a:r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136" name="Line"/>
          <p:cNvSpPr/>
          <p:nvPr/>
        </p:nvSpPr>
        <p:spPr>
          <a:xfrm>
            <a:off x="1118451" y="688720"/>
            <a:ext cx="6629021" cy="1"/>
          </a:xfrm>
          <a:prstGeom prst="line">
            <a:avLst/>
          </a:prstGeom>
          <a:ln w="25400">
            <a:solidFill>
              <a:srgbClr val="3C2688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37" name="Line"/>
          <p:cNvSpPr/>
          <p:nvPr/>
        </p:nvSpPr>
        <p:spPr>
          <a:xfrm flipH="1">
            <a:off x="4432961" y="698343"/>
            <a:ext cx="1" cy="3531230"/>
          </a:xfrm>
          <a:prstGeom prst="line">
            <a:avLst/>
          </a:prstGeom>
          <a:ln w="25400">
            <a:solidFill>
              <a:srgbClr val="3C2688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Phase I : DEEP DIVE"/>
          <p:cNvSpPr txBox="1"/>
          <p:nvPr/>
        </p:nvSpPr>
        <p:spPr>
          <a:xfrm>
            <a:off x="2888299" y="269126"/>
            <a:ext cx="3089325" cy="376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lnSpc>
                <a:spcPts val="3000"/>
              </a:lnSpc>
              <a:defRPr sz="2400" spc="-4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lvl1pPr>
          </a:lstStyle>
          <a:p>
            <a:r>
              <a:t>Phase I : DEEP DIVE</a:t>
            </a:r>
          </a:p>
        </p:txBody>
      </p:sp>
      <p:sp>
        <p:nvSpPr>
          <p:cNvPr id="139" name="Google Shape;72;p15"/>
          <p:cNvSpPr txBox="1"/>
          <p:nvPr/>
        </p:nvSpPr>
        <p:spPr>
          <a:xfrm>
            <a:off x="5289614" y="1017513"/>
            <a:ext cx="1592084" cy="208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pPr defTabSz="297179">
              <a:lnSpc>
                <a:spcPts val="1400"/>
              </a:lnSpc>
              <a:defRPr sz="1300" spc="-26"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Timesheet</a:t>
            </a:r>
          </a:p>
          <a:p>
            <a:pPr lvl="1" indent="148589" defTabSz="297179">
              <a:lnSpc>
                <a:spcPts val="1200"/>
              </a:lnSpc>
              <a:spcBef>
                <a:spcPts val="500"/>
              </a:spcBef>
              <a:defRPr sz="13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8-Week </a:t>
            </a:r>
            <a:endParaRPr spc="-107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lvl="1" indent="148589" defTabSz="297179">
              <a:lnSpc>
                <a:spcPts val="1200"/>
              </a:lnSpc>
              <a:spcBef>
                <a:spcPts val="500"/>
              </a:spcBef>
              <a:defRPr sz="13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Daily Timesheet</a:t>
            </a:r>
          </a:p>
          <a:p>
            <a:pPr lvl="1" indent="148589" defTabSz="297179">
              <a:lnSpc>
                <a:spcPts val="1200"/>
              </a:lnSpc>
              <a:spcBef>
                <a:spcPts val="500"/>
              </a:spcBef>
              <a:defRPr sz="13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Weekly Sign Off</a:t>
            </a:r>
          </a:p>
          <a:p>
            <a:pPr defTabSz="297179">
              <a:lnSpc>
                <a:spcPts val="1200"/>
              </a:lnSpc>
              <a:spcBef>
                <a:spcPts val="2400"/>
              </a:spcBef>
              <a:defRPr sz="1300" spc="-107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Deploy to Prod</a:t>
            </a:r>
          </a:p>
          <a:p>
            <a:pPr lvl="1" indent="148589" defTabSz="297179">
              <a:lnSpc>
                <a:spcPts val="0"/>
              </a:lnSpc>
              <a:spcBef>
                <a:spcPts val="2400"/>
              </a:spcBef>
              <a:defRPr sz="13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2 Week </a:t>
            </a:r>
          </a:p>
        </p:txBody>
      </p:sp>
      <p:sp>
        <p:nvSpPr>
          <p:cNvPr id="140" name="Circle"/>
          <p:cNvSpPr/>
          <p:nvPr/>
        </p:nvSpPr>
        <p:spPr>
          <a:xfrm>
            <a:off x="1626485" y="1144103"/>
            <a:ext cx="101083" cy="102497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41" name="Circle"/>
          <p:cNvSpPr/>
          <p:nvPr/>
        </p:nvSpPr>
        <p:spPr>
          <a:xfrm>
            <a:off x="1626485" y="2247352"/>
            <a:ext cx="101083" cy="102497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42" name="Circle"/>
          <p:cNvSpPr/>
          <p:nvPr/>
        </p:nvSpPr>
        <p:spPr>
          <a:xfrm>
            <a:off x="1626485" y="3561836"/>
            <a:ext cx="101083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43" name="Circle"/>
          <p:cNvSpPr/>
          <p:nvPr/>
        </p:nvSpPr>
        <p:spPr>
          <a:xfrm>
            <a:off x="5240300" y="1144103"/>
            <a:ext cx="101082" cy="102497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44" name="Circle"/>
          <p:cNvSpPr/>
          <p:nvPr/>
        </p:nvSpPr>
        <p:spPr>
          <a:xfrm>
            <a:off x="5240300" y="2328971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pic>
        <p:nvPicPr>
          <p:cNvPr id="145" name="Google Shape;74;p15" descr="Google Shape;74;p15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400446" y="3596349"/>
            <a:ext cx="1739283" cy="15394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70;p15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4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149" name="Google Shape;72;p15"/>
          <p:cNvSpPr txBox="1"/>
          <p:nvPr/>
        </p:nvSpPr>
        <p:spPr>
          <a:xfrm>
            <a:off x="1790560" y="1036481"/>
            <a:ext cx="1734394" cy="3070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pPr defTabSz="310895">
              <a:lnSpc>
                <a:spcPts val="800"/>
              </a:lnSpc>
              <a:defRPr sz="1360" spc="-27"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UI IPAD</a:t>
            </a:r>
          </a:p>
          <a:p>
            <a:pPr defTabSz="310895">
              <a:lnSpc>
                <a:spcPts val="1300"/>
              </a:lnSpc>
              <a:spcBef>
                <a:spcPts val="2500"/>
              </a:spcBef>
              <a:defRPr sz="1360" spc="-112"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Based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3-Week </a:t>
            </a:r>
            <a:endParaRPr spc="-112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Initial Setup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Set Dev Env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 spc="-27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endParaRPr/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 spc="-27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Security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3-Week 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Login 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Reset Password 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Forgot Password</a:t>
            </a:r>
          </a:p>
        </p:txBody>
      </p:sp>
      <p:sp>
        <p:nvSpPr>
          <p:cNvPr id="150" name="Line"/>
          <p:cNvSpPr/>
          <p:nvPr/>
        </p:nvSpPr>
        <p:spPr>
          <a:xfrm>
            <a:off x="1118451" y="688720"/>
            <a:ext cx="6629021" cy="1"/>
          </a:xfrm>
          <a:prstGeom prst="line">
            <a:avLst/>
          </a:prstGeom>
          <a:ln w="25400">
            <a:solidFill>
              <a:srgbClr val="3C2688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51" name="Phase II : IPAD DEVELOPMENT"/>
          <p:cNvSpPr txBox="1"/>
          <p:nvPr/>
        </p:nvSpPr>
        <p:spPr>
          <a:xfrm>
            <a:off x="2217293" y="227111"/>
            <a:ext cx="4709414" cy="365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lnSpc>
                <a:spcPts val="2900"/>
              </a:lnSpc>
              <a:defRPr sz="2400" spc="-4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lvl1pPr>
          </a:lstStyle>
          <a:p>
            <a:r>
              <a:t>Phase II : IPAD DEVELOPMENT</a:t>
            </a:r>
          </a:p>
        </p:txBody>
      </p:sp>
      <p:sp>
        <p:nvSpPr>
          <p:cNvPr id="152" name="Google Shape;72;p15"/>
          <p:cNvSpPr txBox="1"/>
          <p:nvPr/>
        </p:nvSpPr>
        <p:spPr>
          <a:xfrm>
            <a:off x="5340970" y="920342"/>
            <a:ext cx="2153958" cy="3087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pPr defTabSz="288036">
              <a:lnSpc>
                <a:spcPts val="1200"/>
              </a:lnSpc>
              <a:spcBef>
                <a:spcPts val="500"/>
              </a:spcBef>
              <a:defRPr sz="1260" spc="-25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Settings</a:t>
            </a:r>
          </a:p>
          <a:p>
            <a:pPr lvl="1" indent="144018" defTabSz="288036">
              <a:lnSpc>
                <a:spcPts val="1200"/>
              </a:lnSpc>
              <a:spcBef>
                <a:spcPts val="5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1 Week </a:t>
            </a:r>
          </a:p>
          <a:p>
            <a:pPr lvl="1" indent="144018" defTabSz="288036">
              <a:lnSpc>
                <a:spcPts val="1200"/>
              </a:lnSpc>
              <a:spcBef>
                <a:spcPts val="5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General</a:t>
            </a:r>
          </a:p>
          <a:p>
            <a:pPr defTabSz="288036">
              <a:lnSpc>
                <a:spcPts val="1200"/>
              </a:lnSpc>
              <a:spcBef>
                <a:spcPts val="2300"/>
              </a:spcBef>
              <a:defRPr sz="1260" spc="-103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Timesheet</a:t>
            </a:r>
          </a:p>
          <a:p>
            <a:pPr lvl="1" indent="144018" defTabSz="288036">
              <a:lnSpc>
                <a:spcPts val="1200"/>
              </a:lnSpc>
              <a:spcBef>
                <a:spcPts val="5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8-Week </a:t>
            </a:r>
            <a:endParaRPr spc="-103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lvl="1" indent="144018" defTabSz="288036">
              <a:lnSpc>
                <a:spcPts val="1200"/>
              </a:lnSpc>
              <a:spcBef>
                <a:spcPts val="5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Daily Timesheet</a:t>
            </a:r>
          </a:p>
          <a:p>
            <a:pPr lvl="1" indent="144018" defTabSz="288036">
              <a:lnSpc>
                <a:spcPts val="1200"/>
              </a:lnSpc>
              <a:spcBef>
                <a:spcPts val="5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Weekly Sign Off</a:t>
            </a:r>
          </a:p>
          <a:p>
            <a:pPr defTabSz="288036">
              <a:lnSpc>
                <a:spcPts val="1200"/>
              </a:lnSpc>
              <a:spcBef>
                <a:spcPts val="2300"/>
              </a:spcBef>
              <a:defRPr sz="1260" spc="-103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Deploy to Prod</a:t>
            </a:r>
          </a:p>
          <a:p>
            <a:pPr lvl="1" indent="144018" defTabSz="288036">
              <a:lnSpc>
                <a:spcPts val="0"/>
              </a:lnSpc>
              <a:spcBef>
                <a:spcPts val="23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2 Week Deploy to Prod</a:t>
            </a:r>
          </a:p>
          <a:p>
            <a:pPr lvl="1" indent="144018" defTabSz="288036">
              <a:lnSpc>
                <a:spcPts val="0"/>
              </a:lnSpc>
              <a:spcBef>
                <a:spcPts val="22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2 Week </a:t>
            </a:r>
          </a:p>
        </p:txBody>
      </p:sp>
      <p:sp>
        <p:nvSpPr>
          <p:cNvPr id="153" name="Line"/>
          <p:cNvSpPr/>
          <p:nvPr/>
        </p:nvSpPr>
        <p:spPr>
          <a:xfrm flipH="1">
            <a:off x="4432961" y="698343"/>
            <a:ext cx="1" cy="3531230"/>
          </a:xfrm>
          <a:prstGeom prst="line">
            <a:avLst/>
          </a:prstGeom>
          <a:ln w="25400">
            <a:solidFill>
              <a:srgbClr val="3C2688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54" name="Circle"/>
          <p:cNvSpPr/>
          <p:nvPr/>
        </p:nvSpPr>
        <p:spPr>
          <a:xfrm>
            <a:off x="1706596" y="1098326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55" name="Circle"/>
          <p:cNvSpPr/>
          <p:nvPr/>
        </p:nvSpPr>
        <p:spPr>
          <a:xfrm>
            <a:off x="1706596" y="1591377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56" name="Circle"/>
          <p:cNvSpPr/>
          <p:nvPr/>
        </p:nvSpPr>
        <p:spPr>
          <a:xfrm>
            <a:off x="1706596" y="2820523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57" name="Circle"/>
          <p:cNvSpPr/>
          <p:nvPr/>
        </p:nvSpPr>
        <p:spPr>
          <a:xfrm>
            <a:off x="5285750" y="1022126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58" name="Circle"/>
          <p:cNvSpPr/>
          <p:nvPr/>
        </p:nvSpPr>
        <p:spPr>
          <a:xfrm>
            <a:off x="5285750" y="1937541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59" name="Circle"/>
          <p:cNvSpPr/>
          <p:nvPr/>
        </p:nvSpPr>
        <p:spPr>
          <a:xfrm>
            <a:off x="5285750" y="3096694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pic>
        <p:nvPicPr>
          <p:cNvPr id="160" name="Google Shape;74;p15" descr="Google Shape;74;p15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400446" y="3596349"/>
            <a:ext cx="1739283" cy="15394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74;p15" descr="Google Shape;74;p15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400446" y="3596349"/>
            <a:ext cx="1739283" cy="1539430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Google Shape;70;p15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6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165" name="Google Shape;72;p15"/>
          <p:cNvSpPr txBox="1"/>
          <p:nvPr/>
        </p:nvSpPr>
        <p:spPr>
          <a:xfrm>
            <a:off x="1382253" y="831583"/>
            <a:ext cx="2921804" cy="3531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pPr defTabSz="324611">
              <a:lnSpc>
                <a:spcPts val="3800"/>
              </a:lnSpc>
              <a:defRPr sz="1420" spc="-28">
                <a:latin typeface="Comfortaa Bold"/>
                <a:ea typeface="Comfortaa Bold"/>
                <a:cs typeface="Comfortaa Bold"/>
                <a:sym typeface="Comfortaa Bold"/>
              </a:defRPr>
            </a:pPr>
            <a:r>
              <a:t>UI IPAD</a:t>
            </a:r>
          </a:p>
          <a:p>
            <a:pPr defTabSz="324611">
              <a:lnSpc>
                <a:spcPts val="3800"/>
              </a:lnSpc>
              <a:defRPr sz="1420" spc="-28">
                <a:latin typeface="Comfortaa Bold"/>
                <a:ea typeface="Comfortaa Bold"/>
                <a:cs typeface="Comfortaa Bold"/>
                <a:sym typeface="Comfortaa Bold"/>
              </a:defRPr>
            </a:pPr>
            <a:r>
              <a:t>Based :</a:t>
            </a: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3 Week </a:t>
            </a:r>
            <a:endParaRPr spc="-117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Initial Setup</a:t>
            </a: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Set Dev Env</a:t>
            </a:r>
          </a:p>
          <a:p>
            <a:pPr defTabSz="324611">
              <a:lnSpc>
                <a:spcPts val="1400"/>
              </a:lnSpc>
              <a:spcBef>
                <a:spcPts val="600"/>
              </a:spcBef>
              <a:defRPr sz="1420" spc="-28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endParaRPr/>
          </a:p>
          <a:p>
            <a:pPr defTabSz="324611">
              <a:lnSpc>
                <a:spcPts val="1400"/>
              </a:lnSpc>
              <a:spcBef>
                <a:spcPts val="600"/>
              </a:spcBef>
              <a:defRPr sz="1420" spc="-28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Security :</a:t>
            </a: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3 Week </a:t>
            </a: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Login </a:t>
            </a: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Reset Password </a:t>
            </a: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Forgot Password</a:t>
            </a:r>
          </a:p>
        </p:txBody>
      </p:sp>
      <p:sp>
        <p:nvSpPr>
          <p:cNvPr id="166" name="Line"/>
          <p:cNvSpPr/>
          <p:nvPr/>
        </p:nvSpPr>
        <p:spPr>
          <a:xfrm>
            <a:off x="1118451" y="879220"/>
            <a:ext cx="6629021" cy="1"/>
          </a:xfrm>
          <a:prstGeom prst="line">
            <a:avLst/>
          </a:prstGeom>
          <a:ln w="25400">
            <a:solidFill>
              <a:srgbClr val="3C2688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67" name="Line"/>
          <p:cNvSpPr/>
          <p:nvPr/>
        </p:nvSpPr>
        <p:spPr>
          <a:xfrm flipH="1">
            <a:off x="4432961" y="888843"/>
            <a:ext cx="1" cy="3531230"/>
          </a:xfrm>
          <a:prstGeom prst="line">
            <a:avLst/>
          </a:prstGeom>
          <a:ln w="25400">
            <a:solidFill>
              <a:srgbClr val="3C2688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68" name="Phase III: WEB DEVELOPMENT"/>
          <p:cNvSpPr txBox="1"/>
          <p:nvPr/>
        </p:nvSpPr>
        <p:spPr>
          <a:xfrm>
            <a:off x="2142802" y="260732"/>
            <a:ext cx="4656519" cy="376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lnSpc>
                <a:spcPts val="3000"/>
              </a:lnSpc>
              <a:defRPr sz="2400" spc="-4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lvl1pPr>
          </a:lstStyle>
          <a:p>
            <a:r>
              <a:rPr dirty="0"/>
              <a:t>Phase III: WEB DEVELOPMENT</a:t>
            </a:r>
          </a:p>
        </p:txBody>
      </p:sp>
      <p:sp>
        <p:nvSpPr>
          <p:cNvPr id="169" name="Google Shape;72;p15"/>
          <p:cNvSpPr txBox="1"/>
          <p:nvPr/>
        </p:nvSpPr>
        <p:spPr>
          <a:xfrm>
            <a:off x="5249842" y="1170428"/>
            <a:ext cx="2716493" cy="319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 anchor="b">
            <a:normAutofit/>
          </a:bodyPr>
          <a:lstStyle/>
          <a:p>
            <a:pPr defTabSz="333756">
              <a:lnSpc>
                <a:spcPts val="1200"/>
              </a:lnSpc>
              <a:spcBef>
                <a:spcPts val="600"/>
              </a:spcBef>
              <a:defRPr sz="1460" spc="-29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Settings :</a:t>
            </a:r>
          </a:p>
          <a:p>
            <a:pPr lvl="1" indent="166878" defTabSz="333756">
              <a:lnSpc>
                <a:spcPts val="1200"/>
              </a:lnSpc>
              <a:spcBef>
                <a:spcPts val="6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1 Week </a:t>
            </a:r>
          </a:p>
          <a:p>
            <a:pPr lvl="1" indent="166878" defTabSz="333756">
              <a:lnSpc>
                <a:spcPts val="1200"/>
              </a:lnSpc>
              <a:spcBef>
                <a:spcPts val="6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General</a:t>
            </a:r>
          </a:p>
          <a:p>
            <a:pPr defTabSz="333756">
              <a:lnSpc>
                <a:spcPts val="1200"/>
              </a:lnSpc>
              <a:spcBef>
                <a:spcPts val="2700"/>
              </a:spcBef>
              <a:defRPr sz="1460" spc="-120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Timesheet : </a:t>
            </a:r>
          </a:p>
          <a:p>
            <a:pPr lvl="1" indent="166878" defTabSz="333756">
              <a:lnSpc>
                <a:spcPts val="1200"/>
              </a:lnSpc>
              <a:spcBef>
                <a:spcPts val="6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8-Week </a:t>
            </a:r>
            <a:endParaRPr spc="-12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lvl="1" indent="166878" defTabSz="333756">
              <a:lnSpc>
                <a:spcPts val="1200"/>
              </a:lnSpc>
              <a:spcBef>
                <a:spcPts val="6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Daily Timesheet</a:t>
            </a:r>
          </a:p>
          <a:p>
            <a:pPr lvl="1" indent="166878" defTabSz="333756">
              <a:lnSpc>
                <a:spcPts val="1200"/>
              </a:lnSpc>
              <a:spcBef>
                <a:spcPts val="6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Weekly Sign Off</a:t>
            </a:r>
          </a:p>
          <a:p>
            <a:pPr defTabSz="333756">
              <a:lnSpc>
                <a:spcPts val="0"/>
              </a:lnSpc>
              <a:spcBef>
                <a:spcPts val="2700"/>
              </a:spcBef>
              <a:defRPr sz="1460" spc="-120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Deploy to Prod :</a:t>
            </a:r>
          </a:p>
          <a:p>
            <a:pPr lvl="1" indent="166878" defTabSz="333756">
              <a:lnSpc>
                <a:spcPts val="0"/>
              </a:lnSpc>
              <a:spcBef>
                <a:spcPts val="27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2 Week Deploy to Prod</a:t>
            </a:r>
          </a:p>
          <a:p>
            <a:pPr lvl="1" indent="166878" defTabSz="333756">
              <a:lnSpc>
                <a:spcPts val="0"/>
              </a:lnSpc>
              <a:spcBef>
                <a:spcPts val="27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2 Week </a:t>
            </a:r>
          </a:p>
        </p:txBody>
      </p:sp>
      <p:sp>
        <p:nvSpPr>
          <p:cNvPr id="170" name="Circle"/>
          <p:cNvSpPr/>
          <p:nvPr/>
        </p:nvSpPr>
        <p:spPr>
          <a:xfrm>
            <a:off x="1317940" y="1679849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71" name="Circle"/>
          <p:cNvSpPr/>
          <p:nvPr/>
        </p:nvSpPr>
        <p:spPr>
          <a:xfrm>
            <a:off x="1317940" y="3038478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72" name="Circle"/>
          <p:cNvSpPr/>
          <p:nvPr/>
        </p:nvSpPr>
        <p:spPr>
          <a:xfrm>
            <a:off x="1317940" y="1178738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73" name="Circle"/>
          <p:cNvSpPr/>
          <p:nvPr/>
        </p:nvSpPr>
        <p:spPr>
          <a:xfrm>
            <a:off x="5190611" y="1288808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74" name="Circle"/>
          <p:cNvSpPr/>
          <p:nvPr/>
        </p:nvSpPr>
        <p:spPr>
          <a:xfrm>
            <a:off x="5190611" y="2274987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75" name="Circle"/>
          <p:cNvSpPr/>
          <p:nvPr/>
        </p:nvSpPr>
        <p:spPr>
          <a:xfrm>
            <a:off x="5190611" y="3375437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79;p16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78" name="Google Shape;80;p16"/>
          <p:cNvSpPr txBox="1">
            <a:spLocks noGrp="1"/>
          </p:cNvSpPr>
          <p:nvPr>
            <p:ph type="title"/>
          </p:nvPr>
        </p:nvSpPr>
        <p:spPr>
          <a:xfrm>
            <a:off x="252015" y="325656"/>
            <a:ext cx="4461596" cy="678722"/>
          </a:xfrm>
          <a:prstGeom prst="rect">
            <a:avLst/>
          </a:prstGeom>
        </p:spPr>
        <p:txBody>
          <a:bodyPr/>
          <a:lstStyle>
            <a:lvl1pPr defTabSz="315468">
              <a:defRPr sz="3243">
                <a:solidFill>
                  <a:srgbClr val="3C26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dirty="0">
                <a:latin typeface="Comfortaa" pitchFamily="2" charset="0"/>
              </a:rPr>
              <a:t>Schedule Review</a:t>
            </a:r>
          </a:p>
        </p:txBody>
      </p:sp>
      <p:sp>
        <p:nvSpPr>
          <p:cNvPr id="179" name="Google Shape;82;p16"/>
          <p:cNvSpPr txBox="1">
            <a:spLocks noGrp="1"/>
          </p:cNvSpPr>
          <p:nvPr>
            <p:ph type="body" sz="quarter" idx="1"/>
          </p:nvPr>
        </p:nvSpPr>
        <p:spPr>
          <a:xfrm>
            <a:off x="311699" y="2285400"/>
            <a:ext cx="2715693" cy="57270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600"/>
              </a:spcBef>
              <a:buSzTx/>
              <a:buNone/>
              <a:defRPr>
                <a:latin typeface="Comfortaa Bold"/>
                <a:ea typeface="Comfortaa Bold"/>
                <a:cs typeface="Comfortaa Bold"/>
                <a:sym typeface="Comfortaa Bold"/>
              </a:defRPr>
            </a:pPr>
            <a:r>
              <a:rPr dirty="0"/>
              <a:t>Live: </a:t>
            </a:r>
            <a:r>
              <a:rPr lang="es-CR" dirty="0"/>
              <a:t>August</a:t>
            </a:r>
            <a:r>
              <a:rPr dirty="0"/>
              <a:t> 29</a:t>
            </a:r>
            <a:r>
              <a:rPr dirty="0">
                <a:latin typeface="Comfortaa Regular Regular"/>
                <a:ea typeface="Comfortaa Regular Regular"/>
                <a:cs typeface="Comfortaa Regular Regular"/>
                <a:sym typeface="Comfortaa Regular Regular"/>
              </a:rPr>
              <a:t>, 2021</a:t>
            </a:r>
          </a:p>
        </p:txBody>
      </p:sp>
      <p:graphicFrame>
        <p:nvGraphicFramePr>
          <p:cNvPr id="180" name="Google Shape;81;p16"/>
          <p:cNvGraphicFramePr/>
          <p:nvPr>
            <p:extLst>
              <p:ext uri="{D42A27DB-BD31-4B8C-83A1-F6EECF244321}">
                <p14:modId xmlns:p14="http://schemas.microsoft.com/office/powerpoint/2010/main" val="3766912996"/>
              </p:ext>
            </p:extLst>
          </p:nvPr>
        </p:nvGraphicFramePr>
        <p:xfrm>
          <a:off x="3769355" y="1174367"/>
          <a:ext cx="4777534" cy="35716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88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9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758"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Etapa I</a:t>
                      </a:r>
                    </a:p>
                  </a:txBody>
                  <a:tcPr marL="91425" marR="91425" marT="91425" marB="91425" horzOverflow="overflow">
                    <a:solidFill>
                      <a:srgbClr val="F1D1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1D144"/>
                          </a:solidFill>
                        </a:rPr>
                        <a:t>Kick off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s-CR" dirty="0">
                          <a:solidFill>
                            <a:srgbClr val="F1D144"/>
                          </a:solidFill>
                        </a:rPr>
                        <a:t>15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 Feb - 2021</a:t>
                      </a:r>
                      <a:r>
                        <a:rPr dirty="0"/>
                        <a:t>  </a:t>
                      </a:r>
                      <a:r>
                        <a:rPr dirty="0">
                          <a:solidFill>
                            <a:srgbClr val="FFFFFF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&gt;</a:t>
                      </a:r>
                      <a:r>
                        <a:rPr dirty="0"/>
                        <a:t> 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1</a:t>
                      </a:r>
                      <a:r>
                        <a:rPr lang="es-CR" dirty="0">
                          <a:solidFill>
                            <a:srgbClr val="F1D144"/>
                          </a:solidFill>
                        </a:rPr>
                        <a:t>5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 Mar - 2021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758"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Etapa II</a:t>
                      </a:r>
                    </a:p>
                  </a:txBody>
                  <a:tcPr marL="91425" marR="91425" marT="91425" marB="91425" horzOverflow="overflow">
                    <a:solidFill>
                      <a:srgbClr val="F1D1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1D144"/>
                          </a:solidFill>
                        </a:rPr>
                        <a:t>UI Ipad /UI Web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>
                          <a:solidFill>
                            <a:srgbClr val="F1D144"/>
                          </a:solidFill>
                        </a:rPr>
                        <a:t>1</a:t>
                      </a:r>
                      <a:r>
                        <a:rPr lang="es-CR" dirty="0">
                          <a:solidFill>
                            <a:srgbClr val="F1D144"/>
                          </a:solidFill>
                        </a:rPr>
                        <a:t>5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 Mar - 2021</a:t>
                      </a:r>
                      <a:r>
                        <a:rPr dirty="0"/>
                        <a:t>  </a:t>
                      </a:r>
                      <a:r>
                        <a:rPr dirty="0">
                          <a:solidFill>
                            <a:srgbClr val="FFFFFF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&gt;</a:t>
                      </a:r>
                      <a:r>
                        <a:rPr dirty="0">
                          <a:solidFill>
                            <a:srgbClr val="F4D855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 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1</a:t>
                      </a:r>
                      <a:r>
                        <a:rPr lang="es-CR" dirty="0">
                          <a:solidFill>
                            <a:srgbClr val="F1D144"/>
                          </a:solidFill>
                        </a:rPr>
                        <a:t>5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 Apr-2021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95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1D144"/>
                          </a:solidFill>
                        </a:rPr>
                        <a:t>Ipad Development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>
                          <a:solidFill>
                            <a:srgbClr val="F1D144"/>
                          </a:solidFill>
                        </a:rPr>
                        <a:t>1</a:t>
                      </a:r>
                      <a:r>
                        <a:rPr lang="es-CR" dirty="0">
                          <a:solidFill>
                            <a:srgbClr val="F1D144"/>
                          </a:solidFill>
                        </a:rPr>
                        <a:t>5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 Apr - 2021 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dirty="0">
                          <a:solidFill>
                            <a:srgbClr val="FFFFFF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&gt;</a:t>
                      </a:r>
                      <a:r>
                        <a:rPr dirty="0"/>
                        <a:t> 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8 </a:t>
                      </a:r>
                      <a:r>
                        <a:rPr lang="es-CR" dirty="0" err="1">
                          <a:solidFill>
                            <a:srgbClr val="F1D144"/>
                          </a:solidFill>
                        </a:rPr>
                        <a:t>July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 - 2021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758"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Etapa III</a:t>
                      </a:r>
                    </a:p>
                  </a:txBody>
                  <a:tcPr marL="91425" marR="91425" marT="91425" marB="91425" horzOverflow="overflow">
                    <a:solidFill>
                      <a:srgbClr val="F1D1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1D144"/>
                          </a:solidFill>
                        </a:rPr>
                        <a:t> UI Web</a:t>
                      </a:r>
                    </a:p>
                  </a:txBody>
                  <a:tcPr marL="0" marR="0" marT="0" marB="0" anchor="ctr" horzOverflow="overflow">
                    <a:solidFill>
                      <a:srgbClr val="3C26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>
                          <a:solidFill>
                            <a:srgbClr val="F1D144"/>
                          </a:solidFill>
                        </a:rPr>
                        <a:t>1</a:t>
                      </a:r>
                      <a:r>
                        <a:rPr lang="es-CR" dirty="0">
                          <a:solidFill>
                            <a:srgbClr val="F1D144"/>
                          </a:solidFill>
                        </a:rPr>
                        <a:t>5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 Mar - 2021</a:t>
                      </a:r>
                      <a:r>
                        <a:rPr dirty="0"/>
                        <a:t>  </a:t>
                      </a:r>
                      <a:r>
                        <a:rPr dirty="0">
                          <a:solidFill>
                            <a:srgbClr val="FFFFFF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&gt; </a:t>
                      </a:r>
                      <a:r>
                        <a:rPr dirty="0">
                          <a:solidFill>
                            <a:srgbClr val="F4D855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 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1</a:t>
                      </a:r>
                      <a:r>
                        <a:rPr lang="es-CR" dirty="0">
                          <a:solidFill>
                            <a:srgbClr val="F1D144"/>
                          </a:solidFill>
                        </a:rPr>
                        <a:t>5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 Apr - 2021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95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solidFill>
                            <a:srgbClr val="F1D144"/>
                          </a:solidFill>
                        </a:rPr>
                        <a:t>Web Development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>
                          <a:solidFill>
                            <a:srgbClr val="F1D144"/>
                          </a:solidFill>
                        </a:rPr>
                        <a:t>22 Mar - 2021</a:t>
                      </a:r>
                      <a:r>
                        <a:rPr dirty="0"/>
                        <a:t> 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dirty="0">
                          <a:solidFill>
                            <a:srgbClr val="FFFFFF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&gt;</a:t>
                      </a:r>
                      <a:r>
                        <a:rPr dirty="0"/>
                        <a:t> </a:t>
                      </a:r>
                      <a:r>
                        <a:rPr dirty="0">
                          <a:solidFill>
                            <a:srgbClr val="F1D144"/>
                          </a:solidFill>
                        </a:rPr>
                        <a:t>26 Aug - 2021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182" name="Google Shape;74;p15" descr="Google Shape;74;p15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 rot="5400000">
            <a:off x="-108541" y="3604637"/>
            <a:ext cx="1611912" cy="14266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87;p17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85" name="Google Shape;88;p17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4529328" cy="611402"/>
          </a:xfrm>
          <a:prstGeom prst="rect">
            <a:avLst/>
          </a:prstGeom>
        </p:spPr>
        <p:txBody>
          <a:bodyPr/>
          <a:lstStyle>
            <a:lvl1pPr defTabSz="269747">
              <a:defRPr sz="2773">
                <a:solidFill>
                  <a:srgbClr val="3C26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dirty="0">
                <a:latin typeface="Comfortaa" pitchFamily="2" charset="0"/>
              </a:rPr>
              <a:t>Requirements KDF</a:t>
            </a:r>
          </a:p>
        </p:txBody>
      </p:sp>
      <p:sp>
        <p:nvSpPr>
          <p:cNvPr id="186" name="Google Shape;89;p17"/>
          <p:cNvSpPr txBox="1">
            <a:spLocks noGrp="1"/>
          </p:cNvSpPr>
          <p:nvPr>
            <p:ph type="body" sz="half" idx="1"/>
          </p:nvPr>
        </p:nvSpPr>
        <p:spPr>
          <a:xfrm>
            <a:off x="311699" y="1428225"/>
            <a:ext cx="4703402" cy="3140700"/>
          </a:xfrm>
          <a:prstGeom prst="rect">
            <a:avLst/>
          </a:prstGeom>
        </p:spPr>
        <p:txBody>
          <a:bodyPr/>
          <a:lstStyle/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s-CR" dirty="0"/>
              <a:t>Azure </a:t>
            </a:r>
            <a:r>
              <a:rPr lang="es-CR" dirty="0" err="1"/>
              <a:t>Account</a:t>
            </a:r>
            <a:r>
              <a:rPr lang="es-CR" dirty="0"/>
              <a:t>.</a:t>
            </a:r>
            <a:endParaRPr dirty="0"/>
          </a:p>
          <a:p>
            <a:pPr marL="0" indent="0" defTabSz="832104">
              <a:spcBef>
                <a:spcPts val="1400"/>
              </a:spcBef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dirty="0"/>
              <a:t>Expo</a:t>
            </a:r>
            <a:r>
              <a:rPr lang="es-CR" dirty="0"/>
              <a:t> </a:t>
            </a:r>
            <a:r>
              <a:rPr lang="es-CR" dirty="0" err="1"/>
              <a:t>Account</a:t>
            </a:r>
            <a:r>
              <a:rPr lang="es-CR" dirty="0"/>
              <a:t>.</a:t>
            </a:r>
            <a:endParaRPr dirty="0"/>
          </a:p>
          <a:p>
            <a:pPr marL="0" indent="0" defTabSz="832104">
              <a:spcBef>
                <a:spcPts val="1400"/>
              </a:spcBef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s-CR" dirty="0" err="1"/>
              <a:t>Later</a:t>
            </a:r>
            <a:r>
              <a:rPr lang="es-CR" dirty="0"/>
              <a:t> </a:t>
            </a:r>
            <a:r>
              <a:rPr lang="es-CR" dirty="0" err="1"/>
              <a:t>stages</a:t>
            </a:r>
            <a:r>
              <a:rPr lang="es-CR" dirty="0"/>
              <a:t> in the Project we </a:t>
            </a:r>
            <a:r>
              <a:rPr lang="es-CR" dirty="0" err="1"/>
              <a:t>will</a:t>
            </a:r>
            <a:r>
              <a:rPr lang="es-CR" dirty="0"/>
              <a:t> need the Apple </a:t>
            </a:r>
            <a:r>
              <a:rPr lang="es-CR" dirty="0" err="1"/>
              <a:t>development</a:t>
            </a:r>
            <a:r>
              <a:rPr lang="es-CR" dirty="0"/>
              <a:t> </a:t>
            </a:r>
            <a:r>
              <a:rPr lang="es-CR" dirty="0" err="1"/>
              <a:t>account</a:t>
            </a:r>
            <a:r>
              <a:rPr lang="es-CR" dirty="0"/>
              <a:t>.</a:t>
            </a:r>
            <a:endParaRPr dirty="0"/>
          </a:p>
        </p:txBody>
      </p:sp>
      <p:sp>
        <p:nvSpPr>
          <p:cNvPr id="187" name="Google Shape;90;p17"/>
          <p:cNvSpPr/>
          <p:nvPr/>
        </p:nvSpPr>
        <p:spPr>
          <a:xfrm>
            <a:off x="5496374" y="0"/>
            <a:ext cx="3647701" cy="51435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188" name="Google Shape;91;p17" descr="Google Shape;91;p17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065974" y="3304249"/>
            <a:ext cx="2078027" cy="1839251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96;p18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92" name="Google Shape;97;p18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4500302" cy="687876"/>
          </a:xfrm>
          <a:prstGeom prst="rect">
            <a:avLst/>
          </a:prstGeom>
        </p:spPr>
        <p:txBody>
          <a:bodyPr/>
          <a:lstStyle>
            <a:lvl1pPr defTabSz="315468">
              <a:defRPr sz="3243">
                <a:solidFill>
                  <a:srgbClr val="3C26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dirty="0">
                <a:latin typeface="Comfortaa" pitchFamily="2" charset="0"/>
              </a:rPr>
              <a:t>Cost</a:t>
            </a:r>
          </a:p>
        </p:txBody>
      </p:sp>
      <p:sp>
        <p:nvSpPr>
          <p:cNvPr id="193" name="Google Shape;98;p18"/>
          <p:cNvSpPr txBox="1">
            <a:spLocks noGrp="1"/>
          </p:cNvSpPr>
          <p:nvPr>
            <p:ph type="body" sz="half" idx="1"/>
          </p:nvPr>
        </p:nvSpPr>
        <p:spPr>
          <a:xfrm>
            <a:off x="311699" y="1428225"/>
            <a:ext cx="4703402" cy="3140700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2000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lvl1pPr>
          </a:lstStyle>
          <a:p>
            <a:r>
              <a:rPr dirty="0"/>
              <a:t>$26.000 </a:t>
            </a:r>
          </a:p>
        </p:txBody>
      </p:sp>
      <p:sp>
        <p:nvSpPr>
          <p:cNvPr id="194" name="Google Shape;99;p18"/>
          <p:cNvSpPr/>
          <p:nvPr/>
        </p:nvSpPr>
        <p:spPr>
          <a:xfrm>
            <a:off x="5496374" y="0"/>
            <a:ext cx="3647701" cy="51435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195" name="Google Shape;100;p18" descr="Google Shape;100;p18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065974" y="3304249"/>
            <a:ext cx="2078027" cy="1839251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05;p19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99" name="Google Shape;106;p19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4500302" cy="572701"/>
          </a:xfrm>
          <a:prstGeom prst="rect">
            <a:avLst/>
          </a:prstGeom>
        </p:spPr>
        <p:txBody>
          <a:bodyPr/>
          <a:lstStyle>
            <a:lvl1pPr defTabSz="242315">
              <a:defRPr sz="2490">
                <a:solidFill>
                  <a:srgbClr val="3C26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dirty="0">
                <a:latin typeface="Comfortaa" pitchFamily="2" charset="0"/>
              </a:rPr>
              <a:t>Questions?</a:t>
            </a:r>
          </a:p>
        </p:txBody>
      </p:sp>
      <p:sp>
        <p:nvSpPr>
          <p:cNvPr id="200" name="Google Shape;107;p19"/>
          <p:cNvSpPr/>
          <p:nvPr/>
        </p:nvSpPr>
        <p:spPr>
          <a:xfrm>
            <a:off x="5496374" y="0"/>
            <a:ext cx="3647701" cy="51435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201" name="Google Shape;108;p19" descr="Google Shape;108;p19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065974" y="3304249"/>
            <a:ext cx="2078027" cy="1839251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693770" y="4700819"/>
            <a:ext cx="327388" cy="31839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Image Gallery"/>
          <p:cNvGrpSpPr/>
          <p:nvPr/>
        </p:nvGrpSpPr>
        <p:grpSpPr>
          <a:xfrm>
            <a:off x="-6138" y="6639"/>
            <a:ext cx="9144001" cy="5559759"/>
            <a:chOff x="0" y="0"/>
            <a:chExt cx="9144000" cy="5559758"/>
          </a:xfrm>
        </p:grpSpPr>
        <p:pic>
          <p:nvPicPr>
            <p:cNvPr id="204" name="Wallpaper 2@1.5x.jpg" descr="Wallpaper 2@1.5x.jpg"/>
            <p:cNvPicPr>
              <a:picLocks noChangeAspect="1"/>
            </p:cNvPicPr>
            <p:nvPr/>
          </p:nvPicPr>
          <p:blipFill>
            <a:blip r:embed="rId2"/>
            <a:srcRect t="5068" b="5068"/>
            <a:stretch>
              <a:fillRect/>
            </a:stretch>
          </p:blipFill>
          <p:spPr>
            <a:xfrm>
              <a:off x="0" y="0"/>
              <a:ext cx="9144000" cy="51337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5" name="Caption"/>
            <p:cNvSpPr/>
            <p:nvPr/>
          </p:nvSpPr>
          <p:spPr>
            <a:xfrm>
              <a:off x="0" y="5209975"/>
              <a:ext cx="9144000" cy="3497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/>
            <a:p>
              <a:r>
                <a:t>Caption</a:t>
              </a:r>
            </a:p>
          </p:txBody>
        </p:sp>
      </p:grpSp>
      <p:sp>
        <p:nvSpPr>
          <p:cNvPr id="207" name="Thank You"/>
          <p:cNvSpPr txBox="1">
            <a:spLocks noGrp="1"/>
          </p:cNvSpPr>
          <p:nvPr>
            <p:ph type="ctrTitle"/>
          </p:nvPr>
        </p:nvSpPr>
        <p:spPr>
          <a:xfrm>
            <a:off x="4278994" y="1733262"/>
            <a:ext cx="3865435" cy="1021891"/>
          </a:xfrm>
          <a:prstGeom prst="rect">
            <a:avLst/>
          </a:prstGeom>
        </p:spPr>
        <p:txBody>
          <a:bodyPr/>
          <a:lstStyle>
            <a:lvl1pPr defTabSz="859536">
              <a:defRPr sz="4888">
                <a:solidFill>
                  <a:srgbClr val="FFFFFF"/>
                </a:solidFill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lvl1pPr>
          </a:lstStyle>
          <a:p>
            <a:r>
              <a:rPr dirty="0"/>
              <a:t>Thank You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263</Words>
  <Application>Microsoft Office PowerPoint</Application>
  <PresentationFormat>On-screen Show (16:9)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Comfortaa</vt:lpstr>
      <vt:lpstr>Comfortaa Bold</vt:lpstr>
      <vt:lpstr>Comfortaa Medium</vt:lpstr>
      <vt:lpstr>Comfortaa Regular Regular</vt:lpstr>
      <vt:lpstr>Helvetica Light</vt:lpstr>
      <vt:lpstr>Simple Light</vt:lpstr>
      <vt:lpstr>KDF</vt:lpstr>
      <vt:lpstr>Methodology</vt:lpstr>
      <vt:lpstr>Resources</vt:lpstr>
      <vt:lpstr>Phases</vt:lpstr>
      <vt:lpstr>PowerPoint Presentation</vt:lpstr>
      <vt:lpstr>PowerPoint Presentation</vt:lpstr>
      <vt:lpstr>PowerPoint Presentation</vt:lpstr>
      <vt:lpstr>Schedule Review</vt:lpstr>
      <vt:lpstr>Requirements KDF</vt:lpstr>
      <vt:lpstr>Cost</vt:lpstr>
      <vt:lpstr>Questions?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KDF</dc:title>
  <cp:lastModifiedBy>Alvaro Hernandez</cp:lastModifiedBy>
  <cp:revision>2</cp:revision>
  <dcterms:modified xsi:type="dcterms:W3CDTF">2021-02-09T22:32:58Z</dcterms:modified>
</cp:coreProperties>
</file>